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71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B82F6"/>
                </a:solidFill>
                <a:latin typeface="Segoe UI"/>
              </a:defRPr>
            </a:pPr>
            <a:r>
              <a:t>THE LNM INSTITUTE OF INFORMATION TECHNOLOGY</a:t>
            </a:r>
          </a:p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LNMIIT Lab Management System</a:t>
            </a:r>
          </a:p>
          <a:p>
            <a:pPr>
              <a:spcAft>
                <a:spcPts val="3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A Next-Gen Full-Stack Platform for Laboratory Bookings, Equipment Tracking &amp; Multi-Tier Workflow Automations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⚡ Built with: Next.js 15 (App Router)  |  MySQL 8  |  TypeScript  |  Tailwind CSS  |  Nodemailer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1. Executive Summary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🔴 Traditional Manual System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8FAFC"/>
                </a:solidFill>
              </a:defRPr>
            </a:pPr>
            <a:r>
              <a:t>• Paper-Based Approvals: </a:t>
            </a:r>
            <a:r>
              <a:rPr b="0" sz="1200">
                <a:solidFill>
                  <a:srgbClr val="94A3B8"/>
                </a:solidFill>
              </a:rPr>
              <a:t>Slips getting lost, physical signature delays across departments.</a:t>
            </a:r>
          </a:p>
          <a:p>
            <a:pPr>
              <a:spcAft>
                <a:spcPts val="1000"/>
              </a:spcAft>
              <a:defRPr b="1" sz="1300">
                <a:solidFill>
                  <a:srgbClr val="F8FAFC"/>
                </a:solidFill>
              </a:defRPr>
            </a:pPr>
            <a:r>
              <a:t>• Double Bookings &amp; Conflicts: </a:t>
            </a:r>
            <a:r>
              <a:rPr b="0" sz="1200">
                <a:solidFill>
                  <a:srgbClr val="94A3B8"/>
                </a:solidFill>
              </a:rPr>
              <a:t>Lack of real-time slot visibility causing lab schedule collisions.</a:t>
            </a:r>
          </a:p>
          <a:p>
            <a:pPr>
              <a:spcAft>
                <a:spcPts val="1000"/>
              </a:spcAft>
              <a:defRPr b="1" sz="1300">
                <a:solidFill>
                  <a:srgbClr val="F8FAFC"/>
                </a:solidFill>
              </a:defRPr>
            </a:pPr>
            <a:r>
              <a:t>• Untracked Equipment Loans: </a:t>
            </a:r>
            <a:r>
              <a:rPr b="0" sz="1200">
                <a:solidFill>
                  <a:srgbClr val="94A3B8"/>
                </a:solidFill>
              </a:rPr>
              <a:t>No automated tracking for components issued to students.</a:t>
            </a:r>
          </a:p>
          <a:p>
            <a:pPr>
              <a:spcAft>
                <a:spcPts val="1000"/>
              </a:spcAft>
              <a:defRPr b="1" sz="1300">
                <a:solidFill>
                  <a:srgbClr val="F8FAFC"/>
                </a:solidFill>
              </a:defRPr>
            </a:pPr>
            <a:r>
              <a:t>• Communication Breakdown: </a:t>
            </a:r>
            <a:r>
              <a:rPr b="0" sz="1200">
                <a:solidFill>
                  <a:srgbClr val="94A3B8"/>
                </a:solidFill>
              </a:rPr>
              <a:t>Manual emails/calls needed to notify students, faculty &amp; staff.</a:t>
            </a:r>
          </a:p>
          <a:p>
            <a:pPr>
              <a:spcAft>
                <a:spcPts val="1000"/>
              </a:spcAft>
              <a:defRPr b="1" sz="1300">
                <a:solidFill>
                  <a:srgbClr val="F8FAFC"/>
                </a:solidFill>
              </a:defRPr>
            </a:pPr>
            <a:r>
              <a:t>• Zero Audit Trail: </a:t>
            </a:r>
            <a:r>
              <a:rPr b="0" sz="1200">
                <a:solidFill>
                  <a:srgbClr val="94A3B8"/>
                </a:solidFill>
              </a:rPr>
              <a:t>Inability to trace approval decisions or log historical usage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🟢 The LNMIIT LMS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0B981"/>
                </a:solidFill>
              </a:defRPr>
            </a:pPr>
            <a:r>
              <a:t>✓ Centralized Digital Portal: </a:t>
            </a:r>
            <a:r>
              <a:rPr b="0" sz="1200">
                <a:solidFill>
                  <a:srgbClr val="94A3B8"/>
                </a:solidFill>
              </a:rPr>
              <a:t>Single web interface for all 7 stakeholder roles at LNMIIT.</a:t>
            </a:r>
          </a:p>
          <a:p>
            <a:pPr>
              <a:spcAft>
                <a:spcPts val="1000"/>
              </a:spcAft>
              <a:defRPr b="1" sz="1300">
                <a:solidFill>
                  <a:srgbClr val="10B981"/>
                </a:solidFill>
              </a:defRPr>
            </a:pPr>
            <a:r>
              <a:t>✓ Real-Time Slot Engine: </a:t>
            </a:r>
            <a:r>
              <a:rPr b="0" sz="1200">
                <a:solidFill>
                  <a:srgbClr val="94A3B8"/>
                </a:solidFill>
              </a:rPr>
              <a:t>Prevents double-booking with dynamic capacity enforcement.</a:t>
            </a:r>
          </a:p>
          <a:p>
            <a:pPr>
              <a:spcAft>
                <a:spcPts val="1000"/>
              </a:spcAft>
              <a:defRPr b="1" sz="1300">
                <a:solidFill>
                  <a:srgbClr val="10B981"/>
                </a:solidFill>
              </a:defRPr>
            </a:pPr>
            <a:r>
              <a:t>✓ Multi-Tier Approval Engine: </a:t>
            </a:r>
            <a:r>
              <a:rPr b="0" sz="1200">
                <a:solidFill>
                  <a:srgbClr val="94A3B8"/>
                </a:solidFill>
              </a:rPr>
              <a:t>Automated routing through Faculty -&gt; Staff -&gt; HOD / Coordinator.</a:t>
            </a:r>
          </a:p>
          <a:p>
            <a:pPr>
              <a:spcAft>
                <a:spcPts val="1000"/>
              </a:spcAft>
              <a:defRPr b="1" sz="1300">
                <a:solidFill>
                  <a:srgbClr val="10B981"/>
                </a:solidFill>
              </a:defRPr>
            </a:pPr>
            <a:r>
              <a:t>✓ Automated Reminders: </a:t>
            </a:r>
            <a:r>
              <a:rPr b="0" sz="1200">
                <a:solidFill>
                  <a:srgbClr val="94A3B8"/>
                </a:solidFill>
              </a:rPr>
              <a:t>Cron-driven 2-hr pre-booking &amp; daily loan due notifications.</a:t>
            </a:r>
          </a:p>
          <a:p>
            <a:pPr>
              <a:spcAft>
                <a:spcPts val="1000"/>
              </a:spcAft>
              <a:defRPr b="1" sz="1300">
                <a:solidFill>
                  <a:srgbClr val="10B981"/>
                </a:solidFill>
              </a:defRPr>
            </a:pPr>
            <a:r>
              <a:t>✓ Complete Transparency: </a:t>
            </a:r>
            <a:r>
              <a:rPr b="0" sz="1200">
                <a:solidFill>
                  <a:srgbClr val="94A3B8"/>
                </a:solidFill>
              </a:rPr>
              <a:t>Full activity logging, downloadable PDF/Excel audit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Core System Objectives &amp;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🏛️ Role-Tailored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7 distinct role views (Student, Faculty, Lab Staff, HOD, Lab Coordinator, Admin, T&amp;P) with strict RBAC.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📅 Multi-Lab &amp; Slot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Support single and multi-lab simultaneous bookings with conflict detection and head-staff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⚡ Component &amp; Loan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Track equipment inventory, component requests, issuing, return extensions, and overdue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📧 17+ Email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Automated Nodemailer email triggers for every lifecycle state change, request, and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Technical Architecture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2073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29663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🎨 Frontend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Framework:</a:t>
            </a:r>
            <a:br/>
            <a:r>
              <a:rPr b="0" sz="1100">
                <a:solidFill>
                  <a:srgbClr val="94A3B8"/>
                </a:solidFill>
              </a:rPr>
              <a:t>   Next.js 15 (App Router)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UI Components:</a:t>
            </a:r>
            <a:br/>
            <a:r>
              <a:rPr b="0" sz="1100">
                <a:solidFill>
                  <a:srgbClr val="94A3B8"/>
                </a:solidFill>
              </a:rPr>
              <a:t>   Shadcn UI + React 18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Styling Engine:</a:t>
            </a:r>
            <a:br/>
            <a:r>
              <a:rPr b="0" sz="1100">
                <a:solidFill>
                  <a:srgbClr val="94A3B8"/>
                </a:solidFill>
              </a:rPr>
              <a:t>   Tailwind CSS + Dark/Light Theme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Iconography:</a:t>
            </a:r>
            <a:br/>
            <a:r>
              <a:rPr b="0" sz="1100">
                <a:solidFill>
                  <a:srgbClr val="94A3B8"/>
                </a:solidFill>
              </a:rPr>
              <a:t>   Lucide React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Client State:</a:t>
            </a:r>
            <a:br/>
            <a:r>
              <a:rPr b="0" sz="1100">
                <a:solidFill>
                  <a:srgbClr val="94A3B8"/>
                </a:solidFill>
              </a:rPr>
              <a:t>   React Hooks &amp; Dynamic Modals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3" y="1554480"/>
            <a:ext cx="3332073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233" y="1691639"/>
            <a:ext cx="29663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⚙️ Backend &amp; 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513" y="210312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API Routes:</a:t>
            </a:r>
            <a:br/>
            <a:r>
              <a:rPr b="0" sz="1100">
                <a:solidFill>
                  <a:srgbClr val="94A3B8"/>
                </a:solidFill>
              </a:rPr>
              <a:t>   Next.js Serverless Route Handlers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Auth &amp; Session:</a:t>
            </a:r>
            <a:br/>
            <a:r>
              <a:rPr b="0" sz="1100">
                <a:solidFill>
                  <a:srgbClr val="94A3B8"/>
                </a:solidFill>
              </a:rPr>
              <a:t>   SHA-256 Hashing + HTTP Cookies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Middleware:</a:t>
            </a:r>
            <a:br/>
            <a:r>
              <a:rPr b="0" sz="1100">
                <a:solidFill>
                  <a:srgbClr val="94A3B8"/>
                </a:solidFill>
              </a:rPr>
              <a:t>   Role-Based Route Guards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Report Engine:</a:t>
            </a:r>
            <a:br/>
            <a:r>
              <a:rPr b="0" sz="1100">
                <a:solidFill>
                  <a:srgbClr val="94A3B8"/>
                </a:solidFill>
              </a:rPr>
              <a:t>   jsPDF (PDF) &amp; SheetJS xlsx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Cron Jobs:</a:t>
            </a:r>
            <a:br/>
            <a:r>
              <a:rPr b="0" sz="1100">
                <a:solidFill>
                  <a:srgbClr val="94A3B8"/>
                </a:solidFill>
              </a:rPr>
              <a:t>   Automated Hourly &amp; Daily Timers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187" y="1554480"/>
            <a:ext cx="3332073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0067" y="1691639"/>
            <a:ext cx="29663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🗄️ Database &amp;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347" y="2103120"/>
            <a:ext cx="305775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Database:</a:t>
            </a:r>
            <a:br/>
            <a:r>
              <a:rPr b="0" sz="1100">
                <a:solidFill>
                  <a:srgbClr val="94A3B8"/>
                </a:solidFill>
              </a:rPr>
              <a:t>   MySQL 8.0+ Relational DB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Connection:</a:t>
            </a:r>
            <a:br/>
            <a:r>
              <a:rPr b="0" sz="1100">
                <a:solidFill>
                  <a:srgbClr val="94A3B8"/>
                </a:solidFill>
              </a:rPr>
              <a:t>   MySQL Connection Pooling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Email Delivery:</a:t>
            </a:r>
            <a:br/>
            <a:r>
              <a:rPr b="0" sz="1100">
                <a:solidFill>
                  <a:srgbClr val="94A3B8"/>
                </a:solidFill>
              </a:rPr>
              <a:t>   Nodemailer (SMTP / Testing Mode)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Audit Engine:</a:t>
            </a:r>
            <a:br/>
            <a:r>
              <a:rPr b="0" sz="1100">
                <a:solidFill>
                  <a:srgbClr val="94A3B8"/>
                </a:solidFill>
              </a:rPr>
              <a:t>   Activity Logger (system_logs)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Schema:</a:t>
            </a:r>
            <a:br/>
            <a:r>
              <a:rPr b="0" sz="1100">
                <a:solidFill>
                  <a:srgbClr val="94A3B8"/>
                </a:solidFill>
              </a:rPr>
              <a:t>   10 Normalized Relational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Multi-Role Hierarchy &amp; Permissions (7 User Roles)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🔑 Admin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system control, manage users, labs, departments, view all logs &amp; override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6830" y="1554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3990" y="1645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🎓 Student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Book lab slots (requires supervisor), request components, track loan status &amp; view personal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👨‍🏫 Faculty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Book labs, approve/reject student requests as supervisor, request research equipment.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6830" y="2697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990" y="2788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🔬 Lab Staff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Manage lab inventory, approve/reject booking requests (head staff), issue &amp; return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🏛️ HOD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Departmental oversight, final approval authority for lab bookings &amp; component requests.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6830" y="3840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990" y="3931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📋 Lab Coordinator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Designated department approval authority alternative to HOD based on department policy.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527243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499811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🏢 Others (T&amp;P)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Direct booking for placement/institutional events with streamlined approval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5. Detailed Workflow: Lab Slot Booking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6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1: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Student / Faculty / T&amp;P submits slot request. Student selects Faculty Supervisor.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55448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2: Supervisor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1031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Faculty Supervisor receives email notification &amp; approves/rejects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55448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3: Lab Staff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031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Head Lab Staff (labs.staff_id) checks equipment availability &amp; approves.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155448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4: HOD / Final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21031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HOD or Lab Coordinator gives final sign-off. Slot locked &amp; confirmation mailed.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🌟 Advanced Booking Features Highlighted in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Multi-Lab Simultaneous Bookings: Request multiple labs in one transaction with independent per-lab approvals.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Responsible Person Assignment: Designate specific accountable team members per lab in multi-lab bookings.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Conflict &amp; Capacity Guard: Automatic validation against existing booked slots to prevent overbooking.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Detailed Workflow: Component &amp; Equipment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📦 Component Lifecycle (Request to Return)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1. Component Request: </a:t>
            </a:r>
            <a:r>
              <a:rPr b="0" sz="1100">
                <a:solidFill>
                  <a:srgbClr val="94A3B8"/>
                </a:solidFill>
              </a:rPr>
              <a:t>Student requests components specifying quantity, purpose &amp; return date.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2. Approval Chain: </a:t>
            </a:r>
            <a:r>
              <a:rPr b="0" sz="1100">
                <a:solidFill>
                  <a:srgbClr val="94A3B8"/>
                </a:solidFill>
              </a:rPr>
              <a:t>Routed to Faculty Supervisor -&gt; Lab Staff -&gt; HOD for approval.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3. Equipment Issuance: </a:t>
            </a:r>
            <a:r>
              <a:rPr b="0" sz="1100">
                <a:solidFill>
                  <a:srgbClr val="94A3B8"/>
                </a:solidFill>
              </a:rPr>
              <a:t>Lab Staff verifies physical items &amp; issues components via dashboard.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4. Loan Tracking: </a:t>
            </a:r>
            <a:r>
              <a:rPr b="0" sz="1100">
                <a:solidFill>
                  <a:srgbClr val="94A3B8"/>
                </a:solidFill>
              </a:rPr>
              <a:t>Record created in `component_loans` with active due-date countdown.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5. Inspection &amp; Return: </a:t>
            </a:r>
            <a:r>
              <a:rPr b="0" sz="1100">
                <a:solidFill>
                  <a:srgbClr val="94A3B8"/>
                </a:solidFill>
              </a:rPr>
              <a:t>Lab Staff verifies hardware condition and marks loan as returned.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⏳ Loan Extensions &amp; Overdue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59E0B"/>
                </a:solidFill>
              </a:defRPr>
            </a:pPr>
            <a:r>
              <a:t>✓ Extension Request: </a:t>
            </a:r>
            <a:r>
              <a:rPr b="0" sz="1100">
                <a:solidFill>
                  <a:srgbClr val="94A3B8"/>
                </a:solidFill>
              </a:rPr>
              <a:t>Students can request due-date extensions before expiry with valid reasons.</a:t>
            </a:r>
          </a:p>
          <a:p>
            <a:pPr>
              <a:spcAft>
                <a:spcPts val="800"/>
              </a:spcAft>
              <a:defRPr b="1" sz="1200">
                <a:solidFill>
                  <a:srgbClr val="F59E0B"/>
                </a:solidFill>
              </a:defRPr>
            </a:pPr>
            <a:r>
              <a:t>✓ Staff Approval for Extension: </a:t>
            </a:r>
            <a:r>
              <a:rPr b="0" sz="1100">
                <a:solidFill>
                  <a:srgbClr val="94A3B8"/>
                </a:solidFill>
              </a:rPr>
              <a:t>Lab Staff reviews extension reasons and approves new return date.</a:t>
            </a:r>
          </a:p>
          <a:p>
            <a:pPr>
              <a:spcAft>
                <a:spcPts val="800"/>
              </a:spcAft>
              <a:defRPr b="1" sz="1200">
                <a:solidFill>
                  <a:srgbClr val="F59E0B"/>
                </a:solidFill>
              </a:defRPr>
            </a:pPr>
            <a:r>
              <a:t>✓ Daily Automated Reminders: </a:t>
            </a:r>
            <a:r>
              <a:rPr b="0" sz="1100">
                <a:solidFill>
                  <a:srgbClr val="94A3B8"/>
                </a:solidFill>
              </a:rPr>
              <a:t>Cron job sends daily email alerts at 9 AM for items due/overdue.</a:t>
            </a:r>
          </a:p>
          <a:p>
            <a:pPr>
              <a:spcAft>
                <a:spcPts val="800"/>
              </a:spcAft>
              <a:defRPr b="1" sz="1200">
                <a:solidFill>
                  <a:srgbClr val="F59E0B"/>
                </a:solidFill>
              </a:defRPr>
            </a:pPr>
            <a:r>
              <a:t>✓ Inventory Real-Time Sync: </a:t>
            </a:r>
            <a:r>
              <a:rPr b="0" sz="1100">
                <a:solidFill>
                  <a:srgbClr val="94A3B8"/>
                </a:solidFill>
              </a:rPr>
              <a:t>Available component quantities automatically update on return.</a:t>
            </a:r>
          </a:p>
          <a:p>
            <a:pPr>
              <a:spcAft>
                <a:spcPts val="800"/>
              </a:spcAft>
              <a:defRPr b="1" sz="1200">
                <a:solidFill>
                  <a:srgbClr val="F59E0B"/>
                </a:solidFill>
              </a:defRPr>
            </a:pPr>
            <a:r>
              <a:t>✓ Audit Logs: </a:t>
            </a:r>
            <a:r>
              <a:rPr b="0" sz="1100">
                <a:solidFill>
                  <a:srgbClr val="94A3B8"/>
                </a:solidFill>
              </a:rPr>
              <a:t>Every loan extension, delay, and return is permanently recorded in `system_logs`.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Relational Database Schema (10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8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🗄️ Core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📌 users: </a:t>
            </a:r>
            <a:r>
              <a:rPr b="0" sz="1100">
                <a:solidFill>
                  <a:srgbClr val="94A3B8"/>
                </a:solidFill>
              </a:rPr>
              <a:t>User accounts, role, department, hashed passwords (SHA-256).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📌 departments: </a:t>
            </a:r>
            <a:r>
              <a:rPr b="0" sz="1100">
                <a:solidFill>
                  <a:srgbClr val="94A3B8"/>
                </a:solidFill>
              </a:rPr>
              <a:t>Dept hierarchy, HOD/Coordinator IDs, highest_approval_authority.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📌 labs: </a:t>
            </a:r>
            <a:r>
              <a:rPr b="0" sz="1100">
                <a:solidFill>
                  <a:srgbClr val="94A3B8"/>
                </a:solidFill>
              </a:rPr>
              <a:t>Lab metadata, department mapping, capacity, head staff_id.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📌 lab_slots: </a:t>
            </a:r>
            <a:r>
              <a:rPr b="0" sz="1100">
                <a:solidFill>
                  <a:srgbClr val="94A3B8"/>
                </a:solidFill>
              </a:rPr>
              <a:t>Operating time slots per lab (start_time, end_time, capacity).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📌 booking_requests: </a:t>
            </a:r>
            <a:r>
              <a:rPr b="0" sz="1100">
                <a:solidFill>
                  <a:srgbClr val="94A3B8"/>
                </a:solidFill>
              </a:rPr>
              <a:t>Central booking records, multi-lab flag, status, timestamps.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⚡ Workflows &amp; Audit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8B5CF6"/>
                </a:solidFill>
              </a:defRPr>
            </a:pPr>
            <a:r>
              <a:t>📌 multi_lab_approvals: </a:t>
            </a:r>
            <a:r>
              <a:rPr b="0" sz="1100">
                <a:solidFill>
                  <a:srgbClr val="94A3B8"/>
                </a:solidFill>
              </a:rPr>
              <a:t>Per-lab staff and HOD approvals for multi-lab bookings.</a:t>
            </a:r>
          </a:p>
          <a:p>
            <a:pPr>
              <a:spcAft>
                <a:spcPts val="800"/>
              </a:spcAft>
              <a:defRPr b="1" sz="1200">
                <a:solidFill>
                  <a:srgbClr val="8B5CF6"/>
                </a:solidFill>
              </a:defRPr>
            </a:pPr>
            <a:r>
              <a:t>📌 multi_lab_responsible_persons: </a:t>
            </a:r>
            <a:r>
              <a:rPr b="0" sz="1100">
                <a:solidFill>
                  <a:srgbClr val="94A3B8"/>
                </a:solidFill>
              </a:rPr>
              <a:t>Accountable user mapping per booked lab.</a:t>
            </a:r>
          </a:p>
          <a:p>
            <a:pPr>
              <a:spcAft>
                <a:spcPts val="800"/>
              </a:spcAft>
              <a:defRPr b="1" sz="1200">
                <a:solidFill>
                  <a:srgbClr val="8B5CF6"/>
                </a:solidFill>
              </a:defRPr>
            </a:pPr>
            <a:r>
              <a:t>📌 component_requests: </a:t>
            </a:r>
            <a:r>
              <a:rPr b="0" sz="1100">
                <a:solidFill>
                  <a:srgbClr val="94A3B8"/>
                </a:solidFill>
              </a:rPr>
              <a:t>Equipment booking requests with faculty/staff approvals.</a:t>
            </a:r>
          </a:p>
          <a:p>
            <a:pPr>
              <a:spcAft>
                <a:spcPts val="800"/>
              </a:spcAft>
              <a:defRPr b="1" sz="1200">
                <a:solidFill>
                  <a:srgbClr val="8B5CF6"/>
                </a:solidFill>
              </a:defRPr>
            </a:pPr>
            <a:r>
              <a:t>📌 component_loans: </a:t>
            </a:r>
            <a:r>
              <a:rPr b="0" sz="1100">
                <a:solidFill>
                  <a:srgbClr val="94A3B8"/>
                </a:solidFill>
              </a:rPr>
              <a:t>Active component loans, due dates, extension history.</a:t>
            </a:r>
          </a:p>
          <a:p>
            <a:pPr>
              <a:spcAft>
                <a:spcPts val="800"/>
              </a:spcAft>
              <a:defRPr b="1" sz="1200">
                <a:solidFill>
                  <a:srgbClr val="8B5CF6"/>
                </a:solidFill>
              </a:defRPr>
            </a:pPr>
            <a:r>
              <a:t>📌 system_logs &amp; reminder_logs: </a:t>
            </a:r>
            <a:r>
              <a:rPr b="0" sz="1100">
                <a:solidFill>
                  <a:srgbClr val="94A3B8"/>
                </a:solidFill>
              </a:rPr>
              <a:t>Full audit logging (IP, action, timestamp) &amp; cron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8. Automated Notifications &amp; Background Cron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📧 Nodemailer Notification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17+ Email Templates: </a:t>
            </a:r>
            <a:r>
              <a:rPr b="0" sz="1100">
                <a:solidFill>
                  <a:srgbClr val="94A3B8"/>
                </a:solidFill>
              </a:rPr>
              <a:t>Custom HTML email templates for every action (submission, approvals, rejections).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SMTP Integration: </a:t>
            </a:r>
            <a:r>
              <a:rPr b="0" sz="1100">
                <a:solidFill>
                  <a:srgbClr val="94A3B8"/>
                </a:solidFill>
              </a:rPr>
              <a:t>Powered by Nodemailer with Gmail/Custom SMTP server configuration.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TESTING_MODE Support: </a:t>
            </a:r>
            <a:r>
              <a:rPr b="0" sz="1100">
                <a:solidFill>
                  <a:srgbClr val="94A3B8"/>
                </a:solidFill>
              </a:rPr>
              <a:t>Environment flag to redirect all test emails safely to admin inbox during development.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Instant Delivery: </a:t>
            </a:r>
            <a:r>
              <a:rPr b="0" sz="1100">
                <a:solidFill>
                  <a:srgbClr val="94A3B8"/>
                </a:solidFill>
              </a:rPr>
              <a:t>Asynchronous mail dispatch on every status transition in API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⏰ Automated Cron Job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F59E0B"/>
                </a:solidFill>
              </a:defRPr>
            </a:pPr>
            <a:r>
              <a:t>⏰ Hourly 2-Hour Booking Reminders: </a:t>
            </a:r>
            <a:r>
              <a:rPr b="0" sz="1100">
                <a:solidFill>
                  <a:srgbClr val="94A3B8"/>
                </a:solidFill>
              </a:rPr>
              <a:t>`/api/cron/booking-reminders` scans upcoming bookings &amp; sends reminder emails 2 hrs prior.</a:t>
            </a:r>
          </a:p>
          <a:p>
            <a:pPr>
              <a:spcAft>
                <a:spcPts val="1000"/>
              </a:spcAft>
              <a:defRPr b="1" sz="1200">
                <a:solidFill>
                  <a:srgbClr val="F59E0B"/>
                </a:solidFill>
              </a:defRPr>
            </a:pPr>
            <a:r>
              <a:t>⏰ Daily 9 AM Loan Reminders: </a:t>
            </a:r>
            <a:r>
              <a:rPr b="0" sz="1100">
                <a:solidFill>
                  <a:srgbClr val="94A3B8"/>
                </a:solidFill>
              </a:rPr>
              <a:t>`/api/cron/loan-reminders` identifies due/overdue component loans &amp; alerts borrowers.</a:t>
            </a:r>
          </a:p>
          <a:p>
            <a:pPr>
              <a:spcAft>
                <a:spcPts val="1000"/>
              </a:spcAft>
              <a:defRPr b="1" sz="1200">
                <a:solidFill>
                  <a:srgbClr val="F59E0B"/>
                </a:solidFill>
              </a:defRPr>
            </a:pPr>
            <a:r>
              <a:t>⏰ Daily Admin Digest: </a:t>
            </a:r>
            <a:r>
              <a:rPr b="0" sz="1100">
                <a:solidFill>
                  <a:srgbClr val="94A3B8"/>
                </a:solidFill>
              </a:rPr>
              <a:t>`/api/admin/send-digest` sends daily summary report of pending requests to administrators.</a:t>
            </a:r>
          </a:p>
          <a:p>
            <a:pPr>
              <a:spcAft>
                <a:spcPts val="1000"/>
              </a:spcAft>
              <a:defRPr b="1" sz="1200">
                <a:solidFill>
                  <a:srgbClr val="F59E0B"/>
                </a:solidFill>
              </a:defRPr>
            </a:pPr>
            <a:r>
              <a:t>⏰ Idempotent Execution: </a:t>
            </a:r>
            <a:r>
              <a:rPr b="0" sz="1100">
                <a:solidFill>
                  <a:srgbClr val="94A3B8"/>
                </a:solidFill>
              </a:rPr>
              <a:t>Recorded in `reminder_logs` to prevent duplicate email dispatches.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9. Analytics, Export Reports &amp; 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10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📊 Analytics &amp; Report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PDF Report Export: </a:t>
            </a:r>
            <a:r>
              <a:rPr b="0" sz="1100">
                <a:solidFill>
                  <a:srgbClr val="94A3B8"/>
                </a:solidFill>
              </a:rPr>
              <a:t>Generate official PDF summary reports for lab bookings using `jsPDF`.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Excel Data Export: </a:t>
            </a:r>
            <a:r>
              <a:rPr b="0" sz="1100">
                <a:solidFill>
                  <a:srgbClr val="94A3B8"/>
                </a:solidFill>
              </a:rPr>
              <a:t>Export lab utilization &amp; component loan data to spreadsheet formats via `SheetJS (xlsx)`.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Role-Based Statistics: </a:t>
            </a:r>
            <a:r>
              <a:rPr b="0" sz="1100">
                <a:solidFill>
                  <a:srgbClr val="94A3B8"/>
                </a:solidFill>
              </a:rPr>
              <a:t>HOD &amp; Coordinator dashboards display department-wide real-time booking charts &amp; metrics.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• Custom Date Filters: </a:t>
            </a:r>
            <a:r>
              <a:rPr b="0" sz="1100">
                <a:solidFill>
                  <a:srgbClr val="94A3B8"/>
                </a:solidFill>
              </a:rPr>
              <a:t>Filter reports by date ranges, departments, lab codes, and booking statuses.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🔒 Security &amp; Audit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3B82F6"/>
                </a:solidFill>
              </a:defRPr>
            </a:pPr>
            <a:r>
              <a:t>🔒 SHA-256 Password Hashing: </a:t>
            </a:r>
            <a:r>
              <a:rPr b="0" sz="1100">
                <a:solidFill>
                  <a:srgbClr val="94A3B8"/>
                </a:solidFill>
              </a:rPr>
              <a:t>Secure salted password hashing mechanism for user credential protection.</a:t>
            </a:r>
          </a:p>
          <a:p>
            <a:pPr>
              <a:spcAft>
                <a:spcPts val="1000"/>
              </a:spcAft>
              <a:defRPr b="1" sz="1200">
                <a:solidFill>
                  <a:srgbClr val="3B82F6"/>
                </a:solidFill>
              </a:defRPr>
            </a:pPr>
            <a:r>
              <a:t>🔒 Next.js Middleware Guards: </a:t>
            </a:r>
            <a:r>
              <a:rPr b="0" sz="1100">
                <a:solidFill>
                  <a:srgbClr val="94A3B8"/>
                </a:solidFill>
              </a:rPr>
              <a:t>Route protection enforcing role permission checks before rendering pages.</a:t>
            </a:r>
          </a:p>
          <a:p>
            <a:pPr>
              <a:spcAft>
                <a:spcPts val="1000"/>
              </a:spcAft>
              <a:defRPr b="1" sz="1200">
                <a:solidFill>
                  <a:srgbClr val="3B82F6"/>
                </a:solidFill>
              </a:defRPr>
            </a:pPr>
            <a:r>
              <a:t>🔒 SQL Injection Prevention: </a:t>
            </a:r>
            <a:r>
              <a:rPr b="0" sz="1100">
                <a:solidFill>
                  <a:srgbClr val="94A3B8"/>
                </a:solidFill>
              </a:rPr>
              <a:t>Parameterized MySQL queries across all database helpers (`lib/database.ts`).</a:t>
            </a:r>
          </a:p>
          <a:p>
            <a:pPr>
              <a:spcAft>
                <a:spcPts val="1000"/>
              </a:spcAft>
              <a:defRPr b="1" sz="1200">
                <a:solidFill>
                  <a:srgbClr val="3B82F6"/>
                </a:solidFill>
              </a:defRPr>
            </a:pPr>
            <a:r>
              <a:t>🔒 System Activity Logs: </a:t>
            </a:r>
            <a:r>
              <a:rPr b="0" sz="1100">
                <a:solidFill>
                  <a:srgbClr val="94A3B8"/>
                </a:solidFill>
              </a:rPr>
              <a:t>All logins, request submissions, approvals &amp; rejections saved in `system_logs` with IP addresses.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10. User Interface Design &amp; Key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🖥️ Admin Control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User CRUD management, Lab configuration, Department highest-authority settings, system log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🎓 Student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Interactive lab booking forms, supervisor picker, component request modal, active loans status cards.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👨‍🏫 Faculty &amp; HOD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Pending requests list, one-click approve/reject modal with comments, department utilization statistics.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931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🔬 Lab Staff Workstation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Lab inventory management, equipment issue UI, loan return modal, head staff approval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alibri"/>
              </a:defRPr>
            </a:pPr>
            <a:r>
              <a:t>LNMIIT LAB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11. Future Scope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LNMIIT Lab Management System  |  Slide 12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🚀 Roadmap &amp; 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🌟 RFID &amp; QR Code Integration: </a:t>
            </a:r>
            <a:r>
              <a:rPr b="0" sz="1100">
                <a:solidFill>
                  <a:srgbClr val="94A3B8"/>
                </a:solidFill>
              </a:rPr>
              <a:t>Scan QR codes on student IDs or lab doors for instant check-in / check-out.</a:t>
            </a:r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🌟 IoT Equipment Sensors: </a:t>
            </a:r>
            <a:r>
              <a:rPr b="0" sz="1100">
                <a:solidFill>
                  <a:srgbClr val="94A3B8"/>
                </a:solidFill>
              </a:rPr>
              <a:t>Real-time monitoring of equipment usage and power consumption.</a:t>
            </a:r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🌟 Native Mobile App: </a:t>
            </a:r>
            <a:r>
              <a:rPr b="0" sz="1100">
                <a:solidFill>
                  <a:srgbClr val="94A3B8"/>
                </a:solidFill>
              </a:rPr>
              <a:t>Push notifications for instant approval requests on iOS &amp; Android.</a:t>
            </a:r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🌟 AI Analytics &amp; Optimization: </a:t>
            </a:r>
            <a:r>
              <a:rPr b="0" sz="1100">
                <a:solidFill>
                  <a:srgbClr val="94A3B8"/>
                </a:solidFill>
              </a:rPr>
              <a:t>Predictive slot allocation and automated equipment maintenance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691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💡 Key Impact &amp;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✅ 100% Digital Transformation: </a:t>
            </a:r>
            <a:r>
              <a:rPr b="0" sz="1100">
                <a:solidFill>
                  <a:srgbClr val="94A3B8"/>
                </a:solidFill>
              </a:rPr>
              <a:t>Replaces physical paper slips with automated multi-tier digital workflows.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✅ Eliminates Booking Conflicts: </a:t>
            </a:r>
            <a:r>
              <a:rPr b="0" sz="1100">
                <a:solidFill>
                  <a:srgbClr val="94A3B8"/>
                </a:solidFill>
              </a:rPr>
              <a:t>Enforces slot limits, capacity checks, and head-staff validations in real time.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✅ Complete Accountability: </a:t>
            </a:r>
            <a:r>
              <a:rPr b="0" sz="1100">
                <a:solidFill>
                  <a:srgbClr val="94A3B8"/>
                </a:solidFill>
              </a:rPr>
              <a:t>Full audit logging with IP tracking and automated email reminder systems.</a:t>
            </a:r>
          </a:p>
          <a:p>
            <a:pPr>
              <a:spcAft>
                <a:spcPts val="1000"/>
              </a:spcAft>
              <a:defRPr b="1" sz="1200">
                <a:solidFill>
                  <a:srgbClr val="F8FAFC"/>
                </a:solidFill>
              </a:defRPr>
            </a:pPr>
            <a:r>
              <a:t>✅ Scalable Architecture: </a:t>
            </a:r>
            <a:r>
              <a:rPr b="0" sz="1100">
                <a:solidFill>
                  <a:srgbClr val="94A3B8"/>
                </a:solidFill>
              </a:rPr>
              <a:t>Modular Next.js + MySQL stack ready for campus-wide deployment across all LNMIIT departments.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